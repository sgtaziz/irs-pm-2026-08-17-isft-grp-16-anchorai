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embeddedFontLst>
    <p:embeddedFont>
      <p:font typeface="Inter"/>
      <p:regular r:id="rId16"/>
      <p:bold r:id="rId17"/>
      <p:italic r:id="rId18"/>
      <p:boldItalic r:id="rId19"/>
    </p:embeddedFont>
    <p:embeddedFont>
      <p:font typeface="Space Grotesk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PVBV6+gcyBGwUeNDXsD8J4JAz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paceGrotesk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SpaceGrotesk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Inter-bold.fntdata"/><Relationship Id="rId16" Type="http://schemas.openxmlformats.org/officeDocument/2006/relationships/font" Target="fonts/Inter-regular.fntdata"/><Relationship Id="rId5" Type="http://schemas.openxmlformats.org/officeDocument/2006/relationships/slide" Target="slides/slide1.xml"/><Relationship Id="rId19" Type="http://schemas.openxmlformats.org/officeDocument/2006/relationships/font" Target="fonts/Inter-boldItalic.fntdata"/><Relationship Id="rId6" Type="http://schemas.openxmlformats.org/officeDocument/2006/relationships/slide" Target="slides/slide2.xml"/><Relationship Id="rId18" Type="http://schemas.openxmlformats.org/officeDocument/2006/relationships/font" Target="fonts/Inter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914400"/>
            <a:ext cx="4572225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the team and the sponsor. One-line pitch: AnchorAI turns churn predictions into a budget-aware weekly contact plan that staff can question.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Retention is the industry's biggest cost. The key insight: disengagement shows up in behaviour long before the cancellation form. That gap is where intervention can still work.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" name="Google Shape;4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failure maps to one of our design choices: targeting by expected benefit rather than blanket contact, trend-based features, and explainable recommendations.</a:t>
            </a:r>
            <a:endParaRPr/>
          </a:p>
        </p:txBody>
      </p:sp>
      <p:sp>
        <p:nvSpPr>
          <p:cNvPr id="42" name="Google Shape;4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Segment, predict, act. The third goal is what sets us apart: a short list with reasons, not just a risk score.</a:t>
            </a:r>
            <a:endParaRPr/>
          </a:p>
        </p:txBody>
      </p:sp>
      <p:sp>
        <p:nvSpPr>
          <p:cNvPr id="63" name="Google Shape;6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AnchorAI aims to be an explainable, budget aware retention planner for smaller and mid-market chains. Our focus is on transparent decision-making, not just accuracy.</a:t>
            </a:r>
            <a:endParaRPr/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" name="Google Shape;9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The way it works can be simplified in 4 steps. First, we gather features from members, then we segment members with similar behavior. We then will have a prediction stage for each segment to score each member’s risk of leaving, then finally output a plan with who to contact keeping in mind the budget and staff availability. The output will be a weekly contact list, showing exactly why each member is on that list.</a:t>
            </a:r>
            <a:endParaRPr/>
          </a:p>
        </p:txBody>
      </p:sp>
      <p:sp>
        <p:nvSpPr>
          <p:cNvPr id="94" name="Google Shape;9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For technique groups, we aim to cover the following four. First, knowledge discovery to segment members. We will also use a knowledge graph to link members, classes, instructors, and equipment. Also, an artificial neural network will be used to pick who to contact given the constraints available. Lastly, a rule engine holding retention playbooks that staff can edit.</a:t>
            </a:r>
            <a:endParaRPr/>
          </a:p>
        </p:txBody>
      </p:sp>
      <p:sp>
        <p:nvSpPr>
          <p:cNvPr id="125" name="Google Shape;12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94f320f2b9a7e72_2_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h494f320f2b9a7e72_2_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Public Kaggle dataset: Gym Customers Features and Churn (Adrian Vinueza, CC BY-NC-SA 4.0). It is clean: no missing values and no duplicate rows, so preparation is mostly scaling and one derived feature.</a:t>
            </a:r>
            <a:endParaRPr/>
          </a:p>
        </p:txBody>
      </p:sp>
      <p:sp>
        <p:nvSpPr>
          <p:cNvPr id="150" name="Google Shape;150;h494f320f2b9a7e72_2_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h494f320f2b9a7e72_2_5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" name="Google Shape;205;h494f320f2b9a7e72_2_5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Plain SMOTE would produce values like gender = 0.4 for the binary columns; SMOTE-NC keeps them valid. Synthetic rows never enter the test set, otherwise results would look better than they are.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visualize data (real vs. synthetic) e.g., plotting etc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Which will cost you more to retain?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6" name="Google Shape;206;h494f320f2b9a7e72_2_5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h494f320f2b9a7e72_2_9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h494f320f2b9a7e72_2_9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metrics, each tied to a decision: F1 tells us whether the churn model is useful on imbalanced data, and silhouette picks k. Applying SMOTE inside each fold stops synthetic points leaking into validation.</a:t>
            </a:r>
            <a:endParaRPr/>
          </a:p>
        </p:txBody>
      </p:sp>
      <p:sp>
        <p:nvSpPr>
          <p:cNvPr id="238" name="Google Shape;238;h494f320f2b9a7e72_2_9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h494f320f2b9a7e72_2_1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9" name="Google Shape;259;h494f320f2b9a7e72_2_1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Recap: clustering for segments, a churn model trained with SMOTE-NC on a balanced training set, and F1 on an untouched test set.</a:t>
            </a:r>
            <a:endParaRPr/>
          </a:p>
        </p:txBody>
      </p:sp>
      <p:sp>
        <p:nvSpPr>
          <p:cNvPr id="260" name="Google Shape;260;h494f320f2b9a7e72_2_1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hyperlink" Target="https://www.kaggle.com/datasets/adrianvinueza/gym-customers-features-and-chur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lipse" id="12" name="Google Shape;12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23200" y="812800"/>
            <a:ext cx="3556000" cy="355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llipse" id="13" name="Google Shape;1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2201" y="1701800"/>
            <a:ext cx="1778000" cy="177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b="1" i="0" lang="en-US" sz="1200" u="none" cap="none" strike="noStrike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PROJECT PROPOSAL · 27/09/2026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"/>
          <p:cNvSpPr/>
          <p:nvPr/>
        </p:nvSpPr>
        <p:spPr>
          <a:xfrm>
            <a:off x="812800" y="2025650"/>
            <a:ext cx="1088339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8000"/>
              <a:buFont typeface="Space Grotesk"/>
              <a:buNone/>
            </a:pPr>
            <a:r>
              <a:rPr b="1" i="0" lang="en-US" sz="8000" u="none" cap="none" strike="noStrike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AnchorAI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812800" y="3295650"/>
            <a:ext cx="6802120" cy="66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CE5"/>
              </a:buClr>
              <a:buSzPts val="1800"/>
              <a:buFont typeface="Inter"/>
              <a:buNone/>
            </a:pPr>
            <a:r>
              <a:rPr b="0" i="0" lang="en-US" sz="1800" u="none" cap="none" strike="noStrike">
                <a:solidFill>
                  <a:srgbClr val="D5DCE5"/>
                </a:solidFill>
                <a:latin typeface="Inter"/>
                <a:ea typeface="Inter"/>
                <a:cs typeface="Inter"/>
                <a:sym typeface="Inter"/>
              </a:rPr>
              <a:t>A retention intelligence system that tells gym staff who to contact, with which offer, and why.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812800" y="4933950"/>
            <a:ext cx="3484685" cy="2384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TEAM · GATE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812800" y="5197815"/>
            <a:ext cx="3484685" cy="27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Abdulaziz Ali S Hasanain </a:t>
            </a:r>
            <a:r>
              <a:rPr b="0" i="0" lang="en-US" sz="1400" u="none" cap="none" strike="noStrike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A0350856X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812800" y="5497229"/>
            <a:ext cx="3484685" cy="2739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Asiri Mohammed Yahya A </a:t>
            </a:r>
            <a:r>
              <a:rPr b="0" i="0" lang="en-US" sz="1400" u="none" cap="none" strike="noStrike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A0351967N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812800" y="5796586"/>
            <a:ext cx="3484685" cy="2740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Binmaneea Khalid Waleed M </a:t>
            </a:r>
            <a:r>
              <a:rPr b="0" i="0" lang="en-US" sz="1400" u="none" cap="none" strike="noStrike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A0355712E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10456182" y="5532437"/>
            <a:ext cx="923018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2"/>
              </a:buClr>
              <a:buSzPts val="1200"/>
              <a:buFont typeface="Inter"/>
              <a:buNone/>
            </a:pPr>
            <a:r>
              <a:rPr b="0" i="0" lang="en-US" sz="1200" u="none" cap="none" strike="noStrike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SPONSOR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10456182" y="5796586"/>
            <a:ext cx="923018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400"/>
              <a:buFont typeface="Inter"/>
              <a:buNone/>
            </a:pPr>
            <a:r>
              <a:rPr b="0" i="0" lang="en-US" sz="1400" u="none" cap="none" strike="noStrike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Aramco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812800" y="6238252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11190061" y="6238252"/>
            <a:ext cx="239939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02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12800" y="1102349"/>
            <a:ext cx="1088339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Members leave long before they cancel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815975" y="1908118"/>
            <a:ext cx="5175250" cy="2078605"/>
          </a:xfrm>
          <a:prstGeom prst="roundRect">
            <a:avLst>
              <a:gd fmla="val 7179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121229" y="2213373"/>
            <a:ext cx="470168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8000"/>
              <a:buFont typeface="Space Grotesk"/>
              <a:buNone/>
            </a:pPr>
            <a:r>
              <a:rPr b="1" lang="en-US" sz="80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1 in 3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121229" y="3432573"/>
            <a:ext cx="4701685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members leave their gym every year.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6200775" y="1908118"/>
            <a:ext cx="5175250" cy="2078605"/>
          </a:xfrm>
          <a:prstGeom prst="roundRect">
            <a:avLst>
              <a:gd fmla="val 7179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506029" y="2213373"/>
            <a:ext cx="470168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8000"/>
              <a:buFont typeface="Space Grotesk"/>
              <a:buNone/>
            </a:pPr>
            <a:r>
              <a:rPr b="1" lang="en-US" sz="80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1 in 2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6506029" y="3432573"/>
            <a:ext cx="4701685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new joiners leave within their first six months.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812800" y="4345498"/>
            <a:ext cx="10883393" cy="66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Weeks or months pass between the last visit and the cancellation. </a:t>
            </a:r>
            <a:r>
              <a:rPr b="1" lang="en-US" sz="18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That lag is the window AnchorAI targets</a:t>
            </a:r>
            <a:r>
              <a:rPr lang="en-US" sz="18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, because every lost member takes both dues and ancillary spend with them.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812800" y="6238252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11188871" y="6238252"/>
            <a:ext cx="241130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03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CURRENT PRACTICE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12800" y="1102350"/>
            <a:ext cx="1088339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Current practice fails in three ways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815975" y="1908119"/>
            <a:ext cx="3380298" cy="2703286"/>
          </a:xfrm>
          <a:prstGeom prst="roundRect">
            <a:avLst>
              <a:gd fmla="val 552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1121229" y="2213372"/>
            <a:ext cx="2852885" cy="34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1121229" y="2660368"/>
            <a:ext cx="2852885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Calendar campaigns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1121229" y="3061664"/>
            <a:ext cx="2852885" cy="7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Contact everyone on a schedule, spending budget on members who would have stayed anyway.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4405823" y="1908119"/>
            <a:ext cx="3380355" cy="2703286"/>
          </a:xfrm>
          <a:prstGeom prst="roundRect">
            <a:avLst>
              <a:gd fmla="val 552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711076" y="2213372"/>
            <a:ext cx="2852943" cy="34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4711076" y="2660368"/>
            <a:ext cx="2852943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Threshold rules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4711076" y="3061664"/>
            <a:ext cx="2852943" cy="12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Ignore trend. A member dropping from twelve visits a month to four is a stronger warning than a steady two, yet rules treat them alike.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7995727" y="1908119"/>
            <a:ext cx="3380298" cy="2703286"/>
          </a:xfrm>
          <a:prstGeom prst="roundRect">
            <a:avLst>
              <a:gd fmla="val 552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300981" y="2213372"/>
            <a:ext cx="2852885" cy="345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8300981" y="2660368"/>
            <a:ext cx="2852885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Vendor risk scores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8300981" y="3061664"/>
            <a:ext cx="2852885" cy="7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Give a number, not a decision. Staff cannot interrogate the flag, so they ignore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"/>
          <p:cNvSpPr/>
          <p:nvPr/>
        </p:nvSpPr>
        <p:spPr>
          <a:xfrm>
            <a:off x="812800" y="6238250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1184561" y="6238250"/>
            <a:ext cx="245439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04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OUR GOALS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12800" y="1102348"/>
            <a:ext cx="1088339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Three goals, one weekly decision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9" name="Google Shape;69;p4"/>
          <p:cNvCxnSpPr/>
          <p:nvPr/>
        </p:nvCxnSpPr>
        <p:spPr>
          <a:xfrm>
            <a:off x="812800" y="3965065"/>
            <a:ext cx="3318896" cy="0"/>
          </a:xfrm>
          <a:prstGeom prst="straightConnector1">
            <a:avLst/>
          </a:prstGeom>
          <a:noFill/>
          <a:ln cap="flat" cmpd="sng" w="25400">
            <a:solidFill>
              <a:srgbClr val="F08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" name="Google Shape;70;p4"/>
          <p:cNvSpPr/>
          <p:nvPr/>
        </p:nvSpPr>
        <p:spPr>
          <a:xfrm>
            <a:off x="812800" y="4180965"/>
            <a:ext cx="341846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Segment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12800" y="4754959"/>
            <a:ext cx="3418463" cy="52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CE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D5DCE5"/>
                </a:solidFill>
                <a:latin typeface="Inter"/>
                <a:ea typeface="Inter"/>
                <a:cs typeface="Inter"/>
                <a:sym typeface="Inter"/>
              </a:rPr>
              <a:t>Group members by how they use the gym.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12800" y="5379754"/>
            <a:ext cx="341846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Clustering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3" name="Google Shape;73;p4"/>
          <p:cNvCxnSpPr/>
          <p:nvPr/>
        </p:nvCxnSpPr>
        <p:spPr>
          <a:xfrm>
            <a:off x="4436496" y="3965065"/>
            <a:ext cx="3318952" cy="0"/>
          </a:xfrm>
          <a:prstGeom prst="straightConnector1">
            <a:avLst/>
          </a:prstGeom>
          <a:noFill/>
          <a:ln cap="flat" cmpd="sng" w="25400">
            <a:solidFill>
              <a:srgbClr val="F08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" name="Google Shape;74;p4"/>
          <p:cNvSpPr/>
          <p:nvPr/>
        </p:nvSpPr>
        <p:spPr>
          <a:xfrm>
            <a:off x="4436496" y="4180965"/>
            <a:ext cx="3418521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4436496" y="4754959"/>
            <a:ext cx="3418521" cy="52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CE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D5DCE5"/>
                </a:solidFill>
                <a:latin typeface="Inter"/>
                <a:ea typeface="Inter"/>
                <a:cs typeface="Inter"/>
                <a:sym typeface="Inter"/>
              </a:rPr>
              <a:t>Estimate how likely each member is to leave.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436496" y="5379754"/>
            <a:ext cx="3418521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Churn prediction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7" name="Google Shape;77;p4"/>
          <p:cNvCxnSpPr/>
          <p:nvPr/>
        </p:nvCxnSpPr>
        <p:spPr>
          <a:xfrm>
            <a:off x="8060248" y="3965065"/>
            <a:ext cx="3318952" cy="0"/>
          </a:xfrm>
          <a:prstGeom prst="straightConnector1">
            <a:avLst/>
          </a:prstGeom>
          <a:noFill/>
          <a:ln cap="flat" cmpd="sng" w="25400">
            <a:solidFill>
              <a:srgbClr val="F08A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4"/>
          <p:cNvSpPr/>
          <p:nvPr/>
        </p:nvSpPr>
        <p:spPr>
          <a:xfrm>
            <a:off x="8060248" y="4180965"/>
            <a:ext cx="3418521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Act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8060248" y="4754959"/>
            <a:ext cx="3418521" cy="7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CE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D5DCE5"/>
                </a:solidFill>
                <a:latin typeface="Inter"/>
                <a:ea typeface="Inter"/>
                <a:cs typeface="Inter"/>
                <a:sym typeface="Inter"/>
              </a:rPr>
              <a:t>Produce a weekly contact list within budget, with the reason each member is on 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60248" y="5628650"/>
            <a:ext cx="3418521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Rules + optimisation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743B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812800" y="6238252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0F1B2D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11199757" y="6238252"/>
            <a:ext cx="230244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0F1B2D"/>
                </a:solidFill>
                <a:latin typeface="Inter"/>
                <a:ea typeface="Inter"/>
                <a:cs typeface="Inter"/>
                <a:sym typeface="Inter"/>
              </a:rPr>
              <a:t>07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0F1B2D"/>
                </a:solidFill>
                <a:latin typeface="Inter"/>
                <a:ea typeface="Inter"/>
                <a:cs typeface="Inter"/>
                <a:sym typeface="Inter"/>
              </a:rPr>
              <a:t>OUR POSITION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812800" y="2108259"/>
            <a:ext cx="10883393" cy="20370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4800"/>
              <a:buFont typeface="Space Grotesk"/>
              <a:buNone/>
            </a:pPr>
            <a:r>
              <a:rPr b="1" lang="en-US" sz="4800">
                <a:solidFill>
                  <a:srgbClr val="0F1B2D"/>
                </a:solidFill>
                <a:latin typeface="Space Grotesk"/>
                <a:ea typeface="Space Grotesk"/>
                <a:cs typeface="Space Grotesk"/>
                <a:sym typeface="Space Grotesk"/>
              </a:rPr>
              <a:t>An explainable, budget-aware retention planner for mid-market chains.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812800" y="5202011"/>
            <a:ext cx="8502650" cy="6653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0F1B2D"/>
                </a:solidFill>
                <a:latin typeface="Inter"/>
                <a:ea typeface="Inter"/>
                <a:cs typeface="Inter"/>
                <a:sym typeface="Inter"/>
              </a:rPr>
              <a:t>We differentiate on transparent decision-making. Raw model accuracy is where incumbents, with far larger training corpora, will always win.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"/>
          <p:cNvSpPr/>
          <p:nvPr/>
        </p:nvSpPr>
        <p:spPr>
          <a:xfrm>
            <a:off x="812800" y="6238252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1188757" y="6238252"/>
            <a:ext cx="24124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12800" y="812803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HOW IT WORKS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12800" y="1102351"/>
            <a:ext cx="1088339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From member data to a weekly plan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15975" y="1908119"/>
            <a:ext cx="2292350" cy="1743245"/>
          </a:xfrm>
          <a:prstGeom prst="roundRect">
            <a:avLst>
              <a:gd fmla="val 7103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994229" y="2086375"/>
            <a:ext cx="1993918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Step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994229" y="2375923"/>
            <a:ext cx="1993918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Features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94229" y="2726420"/>
            <a:ext cx="1993918" cy="7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Measure each member’s visit pattern and how it is changing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104" name="Google Shape;10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3100" y="2703516"/>
            <a:ext cx="2540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3571875" y="1908119"/>
            <a:ext cx="2292350" cy="1743245"/>
          </a:xfrm>
          <a:prstGeom prst="roundRect">
            <a:avLst>
              <a:gd fmla="val 7103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750129" y="2086375"/>
            <a:ext cx="1993918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Step 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750129" y="2375923"/>
            <a:ext cx="1993918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Segment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3750129" y="2726420"/>
            <a:ext cx="1993918" cy="52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Group members with similar behaviour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109" name="Google Shape;10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000" y="2703516"/>
            <a:ext cx="2540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6327775" y="1908119"/>
            <a:ext cx="2292350" cy="1743245"/>
          </a:xfrm>
          <a:prstGeom prst="roundRect">
            <a:avLst>
              <a:gd fmla="val 7103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506029" y="2086375"/>
            <a:ext cx="1993918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Step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506029" y="2375923"/>
            <a:ext cx="1993918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506029" y="2726420"/>
            <a:ext cx="1993918" cy="523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Score each member’s risk of leaving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row-right" id="114" name="Google Shape;1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901" y="2703516"/>
            <a:ext cx="2540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9083676" y="1908119"/>
            <a:ext cx="2292350" cy="1743245"/>
          </a:xfrm>
          <a:prstGeom prst="roundRect">
            <a:avLst>
              <a:gd fmla="val 7103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9261929" y="2086375"/>
            <a:ext cx="1993918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Step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9261929" y="2375923"/>
            <a:ext cx="1993918" cy="299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Plan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9261929" y="2726420"/>
            <a:ext cx="1993918" cy="7720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Choose who to contact within budget and staff time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12800" y="3857740"/>
            <a:ext cx="10566401" cy="762000"/>
          </a:xfrm>
          <a:prstGeom prst="roundRect">
            <a:avLst>
              <a:gd fmla="val 16667" name="adj"/>
            </a:avLst>
          </a:prstGeom>
          <a:solidFill>
            <a:srgbClr val="0F1B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Circle"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800" y="4086340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1549400" y="4114292"/>
            <a:ext cx="9863075" cy="274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400"/>
              <a:buFont typeface="Inter"/>
              <a:buNone/>
            </a:pPr>
            <a:r>
              <a:rPr b="1" lang="en-US" sz="1400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Output: a weekly contact list,</a:t>
            </a:r>
            <a:r>
              <a:rPr lang="en-US" sz="1400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 showing the main reason each member was selected.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"/>
          <p:cNvSpPr/>
          <p:nvPr/>
        </p:nvSpPr>
        <p:spPr>
          <a:xfrm>
            <a:off x="812800" y="6238252"/>
            <a:ext cx="3006002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11188530" y="6238252"/>
            <a:ext cx="241470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09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812800" y="812800"/>
            <a:ext cx="10883393" cy="238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SCOPE · ALL FOUR TECHNIQUE GROUPS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812800" y="1102348"/>
            <a:ext cx="10883393" cy="472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Four technique groups, four components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6175288" y="3325129"/>
            <a:ext cx="5200800" cy="1331700"/>
          </a:xfrm>
          <a:prstGeom prst="roundRect">
            <a:avLst>
              <a:gd fmla="val 11205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ttings" id="132" name="Google Shape;13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4341" y="3564332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7"/>
          <p:cNvSpPr/>
          <p:nvPr/>
        </p:nvSpPr>
        <p:spPr>
          <a:xfrm>
            <a:off x="6759941" y="3554185"/>
            <a:ext cx="23400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Decision automation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404342" y="3930081"/>
            <a:ext cx="48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 rule engine holding retention playbooks that staff can read and edit.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816050" y="3325116"/>
            <a:ext cx="5200800" cy="1331700"/>
          </a:xfrm>
          <a:prstGeom prst="roundRect">
            <a:avLst>
              <a:gd fmla="val 11205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art" id="136" name="Google Shape;13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5104" y="3564320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7"/>
          <p:cNvSpPr/>
          <p:nvPr/>
        </p:nvSpPr>
        <p:spPr>
          <a:xfrm>
            <a:off x="1400704" y="3554172"/>
            <a:ext cx="25524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Resource optimization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1045104" y="3930068"/>
            <a:ext cx="48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n ANN</a:t>
            </a: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 that picks who to contact within budget and staff time.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16050" y="1857317"/>
            <a:ext cx="5200800" cy="1331700"/>
          </a:xfrm>
          <a:prstGeom prst="roundRect">
            <a:avLst>
              <a:gd fmla="val 11205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earch" id="140" name="Google Shape;140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5104" y="2096518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7"/>
          <p:cNvSpPr/>
          <p:nvPr/>
        </p:nvSpPr>
        <p:spPr>
          <a:xfrm>
            <a:off x="1400704" y="2086370"/>
            <a:ext cx="24297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Knowledge discovery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45104" y="2462266"/>
            <a:ext cx="48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Clustering to segment members, and a model to predict churn.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6175300" y="1857317"/>
            <a:ext cx="5200800" cy="1331700"/>
          </a:xfrm>
          <a:prstGeom prst="roundRect">
            <a:avLst>
              <a:gd fmla="val 11205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Lightbulb" id="144" name="Google Shape;144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4354" y="2096518"/>
            <a:ext cx="254000" cy="25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/>
          <p:nvPr/>
        </p:nvSpPr>
        <p:spPr>
          <a:xfrm>
            <a:off x="6759954" y="2086370"/>
            <a:ext cx="24288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Cognitive techniques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6404354" y="2462266"/>
            <a:ext cx="488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 knowledge graph linking members, classes and instructors.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h494f320f2b9a7e72_2_2"/>
          <p:cNvSpPr/>
          <p:nvPr/>
        </p:nvSpPr>
        <p:spPr>
          <a:xfrm>
            <a:off x="812782" y="6238246"/>
            <a:ext cx="3006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h494f320f2b9a7e72_2_2"/>
          <p:cNvSpPr/>
          <p:nvPr/>
        </p:nvSpPr>
        <p:spPr>
          <a:xfrm>
            <a:off x="11188627" y="6238246"/>
            <a:ext cx="2412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08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h494f320f2b9a7e72_2_2"/>
          <p:cNvSpPr/>
          <p:nvPr/>
        </p:nvSpPr>
        <p:spPr>
          <a:xfrm>
            <a:off x="812782" y="812784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THE DATASET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494f320f2b9a7e72_2_2"/>
          <p:cNvSpPr/>
          <p:nvPr/>
        </p:nvSpPr>
        <p:spPr>
          <a:xfrm>
            <a:off x="812782" y="11023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4,000 members, 13 features, one label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h494f320f2b9a7e72_2_2"/>
          <p:cNvSpPr/>
          <p:nvPr/>
        </p:nvSpPr>
        <p:spPr>
          <a:xfrm>
            <a:off x="812782" y="1973534"/>
            <a:ext cx="2223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4,000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h494f320f2b9a7e72_2_2"/>
          <p:cNvSpPr/>
          <p:nvPr/>
        </p:nvSpPr>
        <p:spPr>
          <a:xfrm>
            <a:off x="812782" y="2445905"/>
            <a:ext cx="2223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Members, one row each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h494f320f2b9a7e72_2_2"/>
          <p:cNvSpPr/>
          <p:nvPr/>
        </p:nvSpPr>
        <p:spPr>
          <a:xfrm>
            <a:off x="812782" y="3175557"/>
            <a:ext cx="2223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13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h494f320f2b9a7e72_2_2"/>
          <p:cNvSpPr/>
          <p:nvPr/>
        </p:nvSpPr>
        <p:spPr>
          <a:xfrm>
            <a:off x="812782" y="3647928"/>
            <a:ext cx="2223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Input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h494f320f2b9a7e72_2_2"/>
          <p:cNvSpPr/>
          <p:nvPr/>
        </p:nvSpPr>
        <p:spPr>
          <a:xfrm>
            <a:off x="812782" y="4279672"/>
            <a:ext cx="2223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B8511F"/>
                </a:solidFill>
                <a:latin typeface="Space Grotesk"/>
                <a:ea typeface="Space Grotesk"/>
                <a:cs typeface="Space Grotesk"/>
                <a:sym typeface="Space Grotesk"/>
              </a:rPr>
              <a:t>1500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h494f320f2b9a7e72_2_2"/>
          <p:cNvSpPr/>
          <p:nvPr/>
        </p:nvSpPr>
        <p:spPr>
          <a:xfrm>
            <a:off x="812782" y="4752047"/>
            <a:ext cx="2223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1351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110"/>
              <a:buFont typeface="Inter"/>
              <a:buNone/>
            </a:pPr>
            <a:r>
              <a:rPr lang="en-US" sz="111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Additional synthesized datapoints</a:t>
            </a:r>
            <a:endParaRPr sz="111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h494f320f2b9a7e72_2_2"/>
          <p:cNvSpPr/>
          <p:nvPr/>
        </p:nvSpPr>
        <p:spPr>
          <a:xfrm>
            <a:off x="3725737" y="2329653"/>
            <a:ext cx="1320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PROFILE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h494f320f2b9a7e72_2_2"/>
          <p:cNvSpPr/>
          <p:nvPr/>
        </p:nvSpPr>
        <p:spPr>
          <a:xfrm>
            <a:off x="5151258" y="2256628"/>
            <a:ext cx="7713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h494f320f2b9a7e72_2_2"/>
          <p:cNvSpPr/>
          <p:nvPr/>
        </p:nvSpPr>
        <p:spPr>
          <a:xfrm>
            <a:off x="5280855" y="2322725"/>
            <a:ext cx="562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gender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h494f320f2b9a7e72_2_2"/>
          <p:cNvSpPr/>
          <p:nvPr/>
        </p:nvSpPr>
        <p:spPr>
          <a:xfrm>
            <a:off x="6004900" y="2256628"/>
            <a:ext cx="5466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h494f320f2b9a7e72_2_2"/>
          <p:cNvSpPr/>
          <p:nvPr/>
        </p:nvSpPr>
        <p:spPr>
          <a:xfrm>
            <a:off x="6134497" y="2322725"/>
            <a:ext cx="338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h494f320f2b9a7e72_2_2"/>
          <p:cNvSpPr/>
          <p:nvPr/>
        </p:nvSpPr>
        <p:spPr>
          <a:xfrm>
            <a:off x="6634037" y="2256628"/>
            <a:ext cx="13020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h494f320f2b9a7e72_2_2"/>
          <p:cNvSpPr/>
          <p:nvPr/>
        </p:nvSpPr>
        <p:spPr>
          <a:xfrm>
            <a:off x="6763634" y="2322725"/>
            <a:ext cx="1093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Near_Location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494f320f2b9a7e72_2_2"/>
          <p:cNvSpPr/>
          <p:nvPr/>
        </p:nvSpPr>
        <p:spPr>
          <a:xfrm>
            <a:off x="8018409" y="2256628"/>
            <a:ext cx="7170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h494f320f2b9a7e72_2_2"/>
          <p:cNvSpPr/>
          <p:nvPr/>
        </p:nvSpPr>
        <p:spPr>
          <a:xfrm>
            <a:off x="8148007" y="2322725"/>
            <a:ext cx="508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Phone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h494f320f2b9a7e72_2_2"/>
          <p:cNvSpPr/>
          <p:nvPr/>
        </p:nvSpPr>
        <p:spPr>
          <a:xfrm>
            <a:off x="3725737" y="2808609"/>
            <a:ext cx="1320900" cy="7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MEMBERSHIP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494f320f2b9a7e72_2_2"/>
          <p:cNvSpPr/>
          <p:nvPr/>
        </p:nvSpPr>
        <p:spPr>
          <a:xfrm>
            <a:off x="5151258" y="2735584"/>
            <a:ext cx="14190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h494f320f2b9a7e72_2_2"/>
          <p:cNvSpPr/>
          <p:nvPr/>
        </p:nvSpPr>
        <p:spPr>
          <a:xfrm>
            <a:off x="5280855" y="2801682"/>
            <a:ext cx="1210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Contract_period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h494f320f2b9a7e72_2_2"/>
          <p:cNvSpPr/>
          <p:nvPr/>
        </p:nvSpPr>
        <p:spPr>
          <a:xfrm>
            <a:off x="6652708" y="2735584"/>
            <a:ext cx="19371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494f320f2b9a7e72_2_2"/>
          <p:cNvSpPr/>
          <p:nvPr/>
        </p:nvSpPr>
        <p:spPr>
          <a:xfrm>
            <a:off x="6782306" y="2801682"/>
            <a:ext cx="1728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Month_to_end_contract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h494f320f2b9a7e72_2_2"/>
          <p:cNvSpPr/>
          <p:nvPr/>
        </p:nvSpPr>
        <p:spPr>
          <a:xfrm>
            <a:off x="8672170" y="2735584"/>
            <a:ext cx="8322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h494f320f2b9a7e72_2_2"/>
          <p:cNvSpPr/>
          <p:nvPr/>
        </p:nvSpPr>
        <p:spPr>
          <a:xfrm>
            <a:off x="8801768" y="2801682"/>
            <a:ext cx="623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Lifetime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494f320f2b9a7e72_2_2"/>
          <p:cNvSpPr/>
          <p:nvPr/>
        </p:nvSpPr>
        <p:spPr>
          <a:xfrm>
            <a:off x="9586877" y="2735584"/>
            <a:ext cx="7881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h494f320f2b9a7e72_2_2"/>
          <p:cNvSpPr/>
          <p:nvPr/>
        </p:nvSpPr>
        <p:spPr>
          <a:xfrm>
            <a:off x="9716475" y="2801682"/>
            <a:ext cx="5796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Partner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h494f320f2b9a7e72_2_2"/>
          <p:cNvSpPr/>
          <p:nvPr/>
        </p:nvSpPr>
        <p:spPr>
          <a:xfrm>
            <a:off x="10455778" y="2735584"/>
            <a:ext cx="13020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h494f320f2b9a7e72_2_2"/>
          <p:cNvSpPr/>
          <p:nvPr/>
        </p:nvSpPr>
        <p:spPr>
          <a:xfrm>
            <a:off x="10585375" y="2801682"/>
            <a:ext cx="1093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Promo_friends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h494f320f2b9a7e72_2_2"/>
          <p:cNvSpPr/>
          <p:nvPr/>
        </p:nvSpPr>
        <p:spPr>
          <a:xfrm>
            <a:off x="3725737" y="3311742"/>
            <a:ext cx="1320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h494f320f2b9a7e72_2_2"/>
          <p:cNvSpPr/>
          <p:nvPr/>
        </p:nvSpPr>
        <p:spPr>
          <a:xfrm>
            <a:off x="5151258" y="3238717"/>
            <a:ext cx="11289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h494f320f2b9a7e72_2_2"/>
          <p:cNvSpPr/>
          <p:nvPr/>
        </p:nvSpPr>
        <p:spPr>
          <a:xfrm>
            <a:off x="5280855" y="3304814"/>
            <a:ext cx="920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Group_visits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h494f320f2b9a7e72_2_2"/>
          <p:cNvSpPr/>
          <p:nvPr/>
        </p:nvSpPr>
        <p:spPr>
          <a:xfrm>
            <a:off x="6362538" y="3238717"/>
            <a:ext cx="21420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h494f320f2b9a7e72_2_2"/>
          <p:cNvSpPr/>
          <p:nvPr/>
        </p:nvSpPr>
        <p:spPr>
          <a:xfrm>
            <a:off x="6492136" y="3304814"/>
            <a:ext cx="1939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Avg_class_frequency_total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h494f320f2b9a7e72_2_2"/>
          <p:cNvSpPr/>
          <p:nvPr/>
        </p:nvSpPr>
        <p:spPr>
          <a:xfrm>
            <a:off x="8587112" y="3238717"/>
            <a:ext cx="28794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h494f320f2b9a7e72_2_2"/>
          <p:cNvSpPr/>
          <p:nvPr/>
        </p:nvSpPr>
        <p:spPr>
          <a:xfrm>
            <a:off x="8716710" y="3304814"/>
            <a:ext cx="2698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Avg_class_frequency_current_month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h494f320f2b9a7e72_2_2"/>
          <p:cNvSpPr/>
          <p:nvPr/>
        </p:nvSpPr>
        <p:spPr>
          <a:xfrm>
            <a:off x="3725737" y="3790699"/>
            <a:ext cx="1320900" cy="3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SPEND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h494f320f2b9a7e72_2_2"/>
          <p:cNvSpPr/>
          <p:nvPr/>
        </p:nvSpPr>
        <p:spPr>
          <a:xfrm>
            <a:off x="5151258" y="3717674"/>
            <a:ext cx="2331600" cy="345600"/>
          </a:xfrm>
          <a:prstGeom prst="roundRect">
            <a:avLst>
              <a:gd fmla="val 50000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h494f320f2b9a7e72_2_2"/>
          <p:cNvSpPr/>
          <p:nvPr/>
        </p:nvSpPr>
        <p:spPr>
          <a:xfrm>
            <a:off x="5280855" y="3783771"/>
            <a:ext cx="2134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Avg_additional_charges_total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h494f320f2b9a7e72_2_2"/>
          <p:cNvSpPr/>
          <p:nvPr/>
        </p:nvSpPr>
        <p:spPr>
          <a:xfrm>
            <a:off x="3725737" y="4269652"/>
            <a:ext cx="13209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TARGET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h494f320f2b9a7e72_2_2"/>
          <p:cNvSpPr/>
          <p:nvPr/>
        </p:nvSpPr>
        <p:spPr>
          <a:xfrm>
            <a:off x="5148083" y="4193452"/>
            <a:ext cx="708300" cy="340500"/>
          </a:xfrm>
          <a:prstGeom prst="roundRect">
            <a:avLst>
              <a:gd fmla="val 50000" name="adj"/>
            </a:avLst>
          </a:prstGeom>
          <a:solidFill>
            <a:srgbClr val="B851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h494f320f2b9a7e72_2_2"/>
          <p:cNvSpPr/>
          <p:nvPr/>
        </p:nvSpPr>
        <p:spPr>
          <a:xfrm>
            <a:off x="5275083" y="4256952"/>
            <a:ext cx="504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AF6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FBFAF6"/>
                </a:solidFill>
                <a:latin typeface="Inter"/>
                <a:ea typeface="Inter"/>
                <a:cs typeface="Inter"/>
                <a:sym typeface="Inter"/>
              </a:rPr>
              <a:t>Churn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h494f320f2b9a7e72_2_2"/>
          <p:cNvSpPr/>
          <p:nvPr/>
        </p:nvSpPr>
        <p:spPr>
          <a:xfrm>
            <a:off x="5932452" y="4256952"/>
            <a:ext cx="2065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1 = member left · 0 = stayed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h494f320f2b9a7e72_2_2"/>
          <p:cNvCxnSpPr/>
          <p:nvPr/>
        </p:nvCxnSpPr>
        <p:spPr>
          <a:xfrm>
            <a:off x="3725737" y="2666905"/>
            <a:ext cx="81435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7" name="Google Shape;197;h494f320f2b9a7e72_2_2"/>
          <p:cNvCxnSpPr/>
          <p:nvPr/>
        </p:nvCxnSpPr>
        <p:spPr>
          <a:xfrm>
            <a:off x="3725737" y="3164022"/>
            <a:ext cx="81435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8" name="Google Shape;198;h494f320f2b9a7e72_2_2"/>
          <p:cNvCxnSpPr/>
          <p:nvPr/>
        </p:nvCxnSpPr>
        <p:spPr>
          <a:xfrm>
            <a:off x="3725737" y="3645518"/>
            <a:ext cx="81435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199" name="Google Shape;199;h494f320f2b9a7e72_2_2"/>
          <p:cNvCxnSpPr/>
          <p:nvPr/>
        </p:nvCxnSpPr>
        <p:spPr>
          <a:xfrm>
            <a:off x="3725737" y="4115919"/>
            <a:ext cx="8143500" cy="0"/>
          </a:xfrm>
          <a:prstGeom prst="straightConnector1">
            <a:avLst/>
          </a:prstGeom>
          <a:noFill/>
          <a:ln cap="flat" cmpd="sng" w="9525">
            <a:solidFill>
              <a:srgbClr val="BFBFBF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200" name="Google Shape;200;h494f320f2b9a7e72_2_2"/>
          <p:cNvSpPr/>
          <p:nvPr/>
        </p:nvSpPr>
        <p:spPr>
          <a:xfrm>
            <a:off x="601579" y="2001015"/>
            <a:ext cx="78300" cy="657300"/>
          </a:xfrm>
          <a:prstGeom prst="rect">
            <a:avLst/>
          </a:prstGeom>
          <a:solidFill>
            <a:srgbClr val="B851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h494f320f2b9a7e72_2_2"/>
          <p:cNvSpPr/>
          <p:nvPr/>
        </p:nvSpPr>
        <p:spPr>
          <a:xfrm>
            <a:off x="601579" y="3175557"/>
            <a:ext cx="78300" cy="657300"/>
          </a:xfrm>
          <a:prstGeom prst="rect">
            <a:avLst/>
          </a:prstGeom>
          <a:solidFill>
            <a:srgbClr val="B851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h494f320f2b9a7e72_2_2"/>
          <p:cNvSpPr/>
          <p:nvPr/>
        </p:nvSpPr>
        <p:spPr>
          <a:xfrm>
            <a:off x="601575" y="4328778"/>
            <a:ext cx="78300" cy="901500"/>
          </a:xfrm>
          <a:prstGeom prst="rect">
            <a:avLst/>
          </a:prstGeom>
          <a:solidFill>
            <a:srgbClr val="B851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494f320f2b9a7e72_2_59"/>
          <p:cNvSpPr/>
          <p:nvPr/>
        </p:nvSpPr>
        <p:spPr>
          <a:xfrm>
            <a:off x="812782" y="6238242"/>
            <a:ext cx="3006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h494f320f2b9a7e72_2_59"/>
          <p:cNvSpPr/>
          <p:nvPr/>
        </p:nvSpPr>
        <p:spPr>
          <a:xfrm>
            <a:off x="11220919" y="6238242"/>
            <a:ext cx="209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h494f320f2b9a7e72_2_59"/>
          <p:cNvSpPr/>
          <p:nvPr/>
        </p:nvSpPr>
        <p:spPr>
          <a:xfrm>
            <a:off x="812782" y="812781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CLASS IMBALANCE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h494f320f2b9a7e72_2_59"/>
          <p:cNvSpPr/>
          <p:nvPr/>
        </p:nvSpPr>
        <p:spPr>
          <a:xfrm>
            <a:off x="812782" y="11023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Only 1 in 4 members churned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h494f320f2b9a7e72_2_59"/>
          <p:cNvSpPr/>
          <p:nvPr/>
        </p:nvSpPr>
        <p:spPr>
          <a:xfrm>
            <a:off x="812782" y="1854126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Full dataset · 4,000 rows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h494f320f2b9a7e72_2_59"/>
          <p:cNvSpPr/>
          <p:nvPr/>
        </p:nvSpPr>
        <p:spPr>
          <a:xfrm>
            <a:off x="812782" y="2118320"/>
            <a:ext cx="7753200" cy="406200"/>
          </a:xfrm>
          <a:prstGeom prst="roundRect">
            <a:avLst>
              <a:gd fmla="val 12502" name="adj"/>
            </a:avLst>
          </a:prstGeom>
          <a:solidFill>
            <a:srgbClr val="0F1B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h494f320f2b9a7e72_2_59"/>
          <p:cNvSpPr/>
          <p:nvPr/>
        </p:nvSpPr>
        <p:spPr>
          <a:xfrm>
            <a:off x="965128" y="2214742"/>
            <a:ext cx="1706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Stayed · 2,939 (73.5%)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h494f320f2b9a7e72_2_59"/>
          <p:cNvSpPr/>
          <p:nvPr/>
        </p:nvSpPr>
        <p:spPr>
          <a:xfrm>
            <a:off x="8591441" y="2118320"/>
            <a:ext cx="2787600" cy="406200"/>
          </a:xfrm>
          <a:prstGeom prst="roundRect">
            <a:avLst>
              <a:gd fmla="val 12502" name="adj"/>
            </a:avLst>
          </a:prstGeom>
          <a:solidFill>
            <a:srgbClr val="B851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h494f320f2b9a7e72_2_59"/>
          <p:cNvSpPr/>
          <p:nvPr/>
        </p:nvSpPr>
        <p:spPr>
          <a:xfrm>
            <a:off x="8743787" y="2214742"/>
            <a:ext cx="1777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AF6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BFAF6"/>
                </a:solidFill>
                <a:latin typeface="Inter"/>
                <a:ea typeface="Inter"/>
                <a:cs typeface="Inter"/>
                <a:sym typeface="Inter"/>
              </a:rPr>
              <a:t>Churned · 1,061 (26.5%)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h494f320f2b9a7e72_2_59"/>
          <p:cNvSpPr/>
          <p:nvPr/>
        </p:nvSpPr>
        <p:spPr>
          <a:xfrm>
            <a:off x="812782" y="2677009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Training set (80%) after SMOTE-NC · balanced 50/50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h494f320f2b9a7e72_2_59"/>
          <p:cNvSpPr/>
          <p:nvPr/>
        </p:nvSpPr>
        <p:spPr>
          <a:xfrm>
            <a:off x="812782" y="2941203"/>
            <a:ext cx="5270400" cy="406200"/>
          </a:xfrm>
          <a:prstGeom prst="roundRect">
            <a:avLst>
              <a:gd fmla="val 12502" name="adj"/>
            </a:avLst>
          </a:prstGeom>
          <a:solidFill>
            <a:srgbClr val="0F1B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h494f320f2b9a7e72_2_59"/>
          <p:cNvSpPr/>
          <p:nvPr/>
        </p:nvSpPr>
        <p:spPr>
          <a:xfrm>
            <a:off x="965128" y="3037625"/>
            <a:ext cx="1056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Stayed · 2,351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h494f320f2b9a7e72_2_59"/>
          <p:cNvSpPr/>
          <p:nvPr/>
        </p:nvSpPr>
        <p:spPr>
          <a:xfrm>
            <a:off x="6108628" y="2941203"/>
            <a:ext cx="1892400" cy="406200"/>
          </a:xfrm>
          <a:prstGeom prst="roundRect">
            <a:avLst>
              <a:gd fmla="val 12502" name="adj"/>
            </a:avLst>
          </a:prstGeom>
          <a:solidFill>
            <a:srgbClr val="B851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h494f320f2b9a7e72_2_59"/>
          <p:cNvSpPr/>
          <p:nvPr/>
        </p:nvSpPr>
        <p:spPr>
          <a:xfrm>
            <a:off x="6260974" y="3037625"/>
            <a:ext cx="12363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AF6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BFAF6"/>
                </a:solidFill>
                <a:latin typeface="Inter"/>
                <a:ea typeface="Inter"/>
                <a:cs typeface="Inter"/>
                <a:sym typeface="Inter"/>
              </a:rPr>
              <a:t>Real churn · 849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h494f320f2b9a7e72_2_59"/>
          <p:cNvSpPr/>
          <p:nvPr/>
        </p:nvSpPr>
        <p:spPr>
          <a:xfrm>
            <a:off x="8032605" y="2947553"/>
            <a:ext cx="3340200" cy="393600"/>
          </a:xfrm>
          <a:prstGeom prst="roundRect">
            <a:avLst>
              <a:gd fmla="val 11292" name="adj"/>
            </a:avLst>
          </a:prstGeom>
          <a:solidFill>
            <a:srgbClr val="F6C9A8"/>
          </a:solidFill>
          <a:ln cap="flat" cmpd="sng" w="12700">
            <a:solidFill>
              <a:srgbClr val="B8511F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h494f320f2b9a7e72_2_59"/>
          <p:cNvSpPr/>
          <p:nvPr/>
        </p:nvSpPr>
        <p:spPr>
          <a:xfrm>
            <a:off x="8190147" y="3037625"/>
            <a:ext cx="18057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F1B2D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0F1B2D"/>
                </a:solidFill>
                <a:latin typeface="Inter"/>
                <a:ea typeface="Inter"/>
                <a:cs typeface="Inter"/>
                <a:sym typeface="Inter"/>
              </a:rPr>
              <a:t>Synthetic churn · ~1,500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h494f320f2b9a7e72_2_59"/>
          <p:cNvSpPr/>
          <p:nvPr/>
        </p:nvSpPr>
        <p:spPr>
          <a:xfrm>
            <a:off x="812782" y="3499892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Test set (20%) · left untouched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h494f320f2b9a7e72_2_59"/>
          <p:cNvSpPr/>
          <p:nvPr/>
        </p:nvSpPr>
        <p:spPr>
          <a:xfrm>
            <a:off x="812782" y="3764087"/>
            <a:ext cx="7753200" cy="406200"/>
          </a:xfrm>
          <a:prstGeom prst="roundRect">
            <a:avLst>
              <a:gd fmla="val 12502" name="adj"/>
            </a:avLst>
          </a:prstGeom>
          <a:solidFill>
            <a:srgbClr val="0F1B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h494f320f2b9a7e72_2_59"/>
          <p:cNvSpPr/>
          <p:nvPr/>
        </p:nvSpPr>
        <p:spPr>
          <a:xfrm>
            <a:off x="965128" y="3860509"/>
            <a:ext cx="9561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4F1EA"/>
                </a:solidFill>
                <a:latin typeface="Inter"/>
                <a:ea typeface="Inter"/>
                <a:cs typeface="Inter"/>
                <a:sym typeface="Inter"/>
              </a:rPr>
              <a:t>Stayed · 588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h494f320f2b9a7e72_2_59"/>
          <p:cNvSpPr/>
          <p:nvPr/>
        </p:nvSpPr>
        <p:spPr>
          <a:xfrm>
            <a:off x="8591441" y="3764087"/>
            <a:ext cx="2787600" cy="406200"/>
          </a:xfrm>
          <a:prstGeom prst="roundRect">
            <a:avLst>
              <a:gd fmla="val 12502" name="adj"/>
            </a:avLst>
          </a:prstGeom>
          <a:solidFill>
            <a:srgbClr val="B8511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h494f320f2b9a7e72_2_59"/>
          <p:cNvSpPr/>
          <p:nvPr/>
        </p:nvSpPr>
        <p:spPr>
          <a:xfrm>
            <a:off x="8743787" y="3860509"/>
            <a:ext cx="10518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BFAF6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FBFAF6"/>
                </a:solidFill>
                <a:latin typeface="Inter"/>
                <a:ea typeface="Inter"/>
                <a:cs typeface="Inter"/>
                <a:sym typeface="Inter"/>
              </a:rPr>
              <a:t>Churned · 212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h494f320f2b9a7e72_2_59"/>
          <p:cNvSpPr/>
          <p:nvPr/>
        </p:nvSpPr>
        <p:spPr>
          <a:xfrm>
            <a:off x="812782" y="4475212"/>
            <a:ext cx="3418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1 · Split first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h494f320f2b9a7e72_2_59"/>
          <p:cNvSpPr/>
          <p:nvPr/>
        </p:nvSpPr>
        <p:spPr>
          <a:xfrm>
            <a:off x="812782" y="4739407"/>
            <a:ext cx="341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Stratified 80/20 split keeps the 26.5% churn rate in both sets.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h494f320f2b9a7e72_2_59"/>
          <p:cNvSpPr/>
          <p:nvPr/>
        </p:nvSpPr>
        <p:spPr>
          <a:xfrm>
            <a:off x="4436521" y="4475212"/>
            <a:ext cx="3418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2 · Oversample training only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h494f320f2b9a7e72_2_59"/>
          <p:cNvSpPr/>
          <p:nvPr/>
        </p:nvSpPr>
        <p:spPr>
          <a:xfrm>
            <a:off x="4436521" y="4739407"/>
            <a:ext cx="34185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SMOTE-NC creates synthetic churners between real ones; NC handles the 6 binary columns.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h494f320f2b9a7e72_2_59"/>
          <p:cNvSpPr/>
          <p:nvPr/>
        </p:nvSpPr>
        <p:spPr>
          <a:xfrm>
            <a:off x="8060261" y="4475212"/>
            <a:ext cx="3418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3 · Test on real data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h494f320f2b9a7e72_2_59"/>
          <p:cNvSpPr/>
          <p:nvPr/>
        </p:nvSpPr>
        <p:spPr>
          <a:xfrm>
            <a:off x="8060261" y="4739407"/>
            <a:ext cx="3418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The test set keeps the true mix, so scores reflect real conditions.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1E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h494f320f2b9a7e72_2_90"/>
          <p:cNvSpPr/>
          <p:nvPr/>
        </p:nvSpPr>
        <p:spPr>
          <a:xfrm>
            <a:off x="812782" y="6238242"/>
            <a:ext cx="30060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AnchorAI · Retention Intelligence System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h494f320f2b9a7e72_2_90"/>
          <p:cNvSpPr/>
          <p:nvPr/>
        </p:nvSpPr>
        <p:spPr>
          <a:xfrm>
            <a:off x="11255104" y="6238242"/>
            <a:ext cx="174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A647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5A6472"/>
                </a:solidFill>
                <a:latin typeface="Inter"/>
                <a:ea typeface="Inter"/>
                <a:cs typeface="Inter"/>
                <a:sym typeface="Inter"/>
              </a:rPr>
              <a:t>11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h494f320f2b9a7e72_2_90"/>
          <p:cNvSpPr/>
          <p:nvPr/>
        </p:nvSpPr>
        <p:spPr>
          <a:xfrm>
            <a:off x="812782" y="812781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h494f320f2b9a7e72_2_90"/>
          <p:cNvSpPr/>
          <p:nvPr/>
        </p:nvSpPr>
        <p:spPr>
          <a:xfrm>
            <a:off x="812782" y="1102320"/>
            <a:ext cx="108834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One metric per model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h494f320f2b9a7e72_2_90"/>
          <p:cNvSpPr/>
          <p:nvPr/>
        </p:nvSpPr>
        <p:spPr>
          <a:xfrm>
            <a:off x="8000188" y="1857301"/>
            <a:ext cx="3378900" cy="2118000"/>
          </a:xfrm>
          <a:prstGeom prst="roundRect">
            <a:avLst>
              <a:gd fmla="val 7196" name="adj"/>
            </a:avLst>
          </a:prstGeom>
          <a:solidFill>
            <a:srgbClr val="0F1B2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h494f320f2b9a7e72_2_90"/>
          <p:cNvSpPr/>
          <p:nvPr/>
        </p:nvSpPr>
        <p:spPr>
          <a:xfrm>
            <a:off x="8279534" y="2136645"/>
            <a:ext cx="2904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WHY NOT ACCURACY?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h494f320f2b9a7e72_2_90"/>
          <p:cNvSpPr/>
          <p:nvPr/>
        </p:nvSpPr>
        <p:spPr>
          <a:xfrm>
            <a:off x="8279534" y="2426184"/>
            <a:ext cx="2904900" cy="47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3200"/>
              <a:buFont typeface="Space Grotesk"/>
              <a:buNone/>
            </a:pPr>
            <a:r>
              <a:rPr b="1" lang="en-US" sz="3200">
                <a:solidFill>
                  <a:srgbClr val="F08A4B"/>
                </a:solidFill>
                <a:latin typeface="Space Grotesk"/>
                <a:ea typeface="Space Grotesk"/>
                <a:cs typeface="Space Grotesk"/>
                <a:sym typeface="Space Grotesk"/>
              </a:rPr>
              <a:t>73.5%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h494f320f2b9a7e72_2_90"/>
          <p:cNvSpPr/>
          <p:nvPr/>
        </p:nvSpPr>
        <p:spPr>
          <a:xfrm>
            <a:off x="8279534" y="2949339"/>
            <a:ext cx="29049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DCE5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D5DCE5"/>
                </a:solidFill>
                <a:latin typeface="Inter"/>
                <a:ea typeface="Inter"/>
                <a:cs typeface="Inter"/>
                <a:sym typeface="Inter"/>
              </a:rPr>
              <a:t>accuracy from predicting “stays” for everyone, while catching zero churners.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h494f320f2b9a7e72_2_90"/>
          <p:cNvSpPr/>
          <p:nvPr/>
        </p:nvSpPr>
        <p:spPr>
          <a:xfrm>
            <a:off x="812782" y="1857301"/>
            <a:ext cx="3384300" cy="2111700"/>
          </a:xfrm>
          <a:prstGeom prst="roundRect">
            <a:avLst>
              <a:gd fmla="val 7067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h494f320f2b9a7e72_2_90"/>
          <p:cNvSpPr/>
          <p:nvPr/>
        </p:nvSpPr>
        <p:spPr>
          <a:xfrm>
            <a:off x="1094726" y="2139243"/>
            <a:ext cx="2904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CHURN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h494f320f2b9a7e72_2_90"/>
          <p:cNvSpPr/>
          <p:nvPr/>
        </p:nvSpPr>
        <p:spPr>
          <a:xfrm>
            <a:off x="1094726" y="2428782"/>
            <a:ext cx="2904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F1-score (churn class)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h494f320f2b9a7e72_2_90"/>
          <p:cNvSpPr/>
          <p:nvPr/>
        </p:nvSpPr>
        <p:spPr>
          <a:xfrm>
            <a:off x="1094726" y="2779117"/>
            <a:ext cx="29049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Balances catching churners against false alarms. Shown with a confusion matrix.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h494f320f2b9a7e72_2_90"/>
          <p:cNvSpPr/>
          <p:nvPr/>
        </p:nvSpPr>
        <p:spPr>
          <a:xfrm>
            <a:off x="4406486" y="1857301"/>
            <a:ext cx="3384300" cy="2111700"/>
          </a:xfrm>
          <a:prstGeom prst="roundRect">
            <a:avLst>
              <a:gd fmla="val 7067" name="adj"/>
            </a:avLst>
          </a:prstGeom>
          <a:solidFill>
            <a:srgbClr val="FBFAF6"/>
          </a:solidFill>
          <a:ln cap="flat" cmpd="sng" w="9525">
            <a:solidFill>
              <a:srgbClr val="E2DD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h494f320f2b9a7e72_2_90"/>
          <p:cNvSpPr/>
          <p:nvPr/>
        </p:nvSpPr>
        <p:spPr>
          <a:xfrm>
            <a:off x="4688429" y="2139243"/>
            <a:ext cx="29049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511F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B8511F"/>
                </a:solidFill>
                <a:latin typeface="Inter"/>
                <a:ea typeface="Inter"/>
                <a:cs typeface="Inter"/>
                <a:sym typeface="Inter"/>
              </a:rPr>
              <a:t>SEGMENTATION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h494f320f2b9a7e72_2_90"/>
          <p:cNvSpPr/>
          <p:nvPr/>
        </p:nvSpPr>
        <p:spPr>
          <a:xfrm>
            <a:off x="4688429" y="2428782"/>
            <a:ext cx="2904900" cy="2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800"/>
              <a:buFont typeface="Space Grotesk"/>
              <a:buNone/>
            </a:pPr>
            <a:r>
              <a:rPr b="1" lang="en-US" sz="1800">
                <a:solidFill>
                  <a:srgbClr val="1A2433"/>
                </a:solidFill>
                <a:latin typeface="Space Grotesk"/>
                <a:ea typeface="Space Grotesk"/>
                <a:cs typeface="Space Grotesk"/>
                <a:sym typeface="Space Grotesk"/>
              </a:rPr>
              <a:t>Silhouette score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h494f320f2b9a7e72_2_90"/>
          <p:cNvSpPr/>
          <p:nvPr/>
        </p:nvSpPr>
        <p:spPr>
          <a:xfrm>
            <a:off x="4688429" y="2779117"/>
            <a:ext cx="29049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A2433"/>
              </a:buClr>
              <a:buSzPts val="1400"/>
              <a:buFont typeface="Inter"/>
              <a:buNone/>
            </a:pPr>
            <a:r>
              <a:rPr lang="en-US" sz="1400">
                <a:solidFill>
                  <a:srgbClr val="1A2433"/>
                </a:solidFill>
                <a:latin typeface="Inter"/>
                <a:ea typeface="Inter"/>
                <a:cs typeface="Inter"/>
                <a:sym typeface="Inter"/>
              </a:rPr>
              <a:t>Used to choose the number of clusters, k.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h494f320f2b9a7e72_2_90"/>
          <p:cNvCxnSpPr>
            <a:stCxn id="244" idx="2"/>
            <a:endCxn id="248" idx="2"/>
          </p:cNvCxnSpPr>
          <p:nvPr/>
        </p:nvCxnSpPr>
        <p:spPr>
          <a:xfrm flipH="1" rot="5400000">
            <a:off x="6094138" y="379801"/>
            <a:ext cx="6300" cy="7184700"/>
          </a:xfrm>
          <a:prstGeom prst="curvedConnector3">
            <a:avLst>
              <a:gd fmla="val -8021048" name="adj1"/>
            </a:avLst>
          </a:prstGeom>
          <a:noFill/>
          <a:ln cap="flat" cmpd="sng" w="19050">
            <a:solidFill>
              <a:srgbClr val="0F1B2D"/>
            </a:solidFill>
            <a:prstDash val="solid"/>
            <a:miter lim="8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B2D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llipse" id="262" name="Google Shape;262;h494f320f2b9a7e72_2_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39128" y="812781"/>
            <a:ext cx="2540000" cy="2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h494f320f2b9a7e72_2_111"/>
          <p:cNvSpPr/>
          <p:nvPr/>
        </p:nvSpPr>
        <p:spPr>
          <a:xfrm>
            <a:off x="812782" y="812781"/>
            <a:ext cx="108834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200"/>
              <a:buFont typeface="Inter"/>
              <a:buNone/>
            </a:pPr>
            <a:r>
              <a:rPr b="1" lang="en-US" sz="12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ANCHORAI IN ONE 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h494f320f2b9a7e72_2_111"/>
          <p:cNvSpPr/>
          <p:nvPr/>
        </p:nvSpPr>
        <p:spPr>
          <a:xfrm>
            <a:off x="812782" y="2105868"/>
            <a:ext cx="8110200" cy="20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4F1EA"/>
              </a:buClr>
              <a:buSzPts val="4800"/>
              <a:buFont typeface="Space Grotesk"/>
              <a:buNone/>
            </a:pPr>
            <a:r>
              <a:rPr b="1" lang="en-US" sz="4300">
                <a:solidFill>
                  <a:srgbClr val="F4F1E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Segment members. Predict churn. Measure it on real data.</a:t>
            </a:r>
            <a:endParaRPr sz="4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h494f320f2b9a7e72_2_111"/>
          <p:cNvSpPr/>
          <p:nvPr/>
        </p:nvSpPr>
        <p:spPr>
          <a:xfrm>
            <a:off x="812782" y="5196892"/>
            <a:ext cx="108834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08A4B"/>
              </a:buClr>
              <a:buSzPts val="1800"/>
              <a:buFont typeface="Inter"/>
              <a:buNone/>
            </a:pPr>
            <a:r>
              <a:rPr lang="en-US" sz="1800">
                <a:solidFill>
                  <a:srgbClr val="F08A4B"/>
                </a:solidFill>
                <a:latin typeface="Inter"/>
                <a:ea typeface="Inter"/>
                <a:cs typeface="Inter"/>
                <a:sym typeface="Inter"/>
              </a:rPr>
              <a:t>Thank you. Questions welcome.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h494f320f2b9a7e72_2_111"/>
          <p:cNvSpPr/>
          <p:nvPr/>
        </p:nvSpPr>
        <p:spPr>
          <a:xfrm>
            <a:off x="812782" y="5618392"/>
            <a:ext cx="10883400" cy="4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B4C2"/>
              </a:buClr>
              <a:buSzPts val="1200"/>
              <a:buFont typeface="Inter"/>
              <a:buNone/>
            </a:pPr>
            <a:r>
              <a:rPr lang="en-US" sz="1200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Sources: Health and Fitness Association 2025 Fitness Industry Benchmarking Report; Keepme and Glofox product documentation; industry buyer guides published in 2026. Dataset: </a:t>
            </a:r>
            <a:r>
              <a:rPr lang="en-US" sz="1200" u="sng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Gym Customers Features and Churn</a:t>
            </a:r>
            <a:r>
              <a:rPr lang="en-US" sz="1200">
                <a:solidFill>
                  <a:srgbClr val="A9B4C2"/>
                </a:solidFill>
                <a:latin typeface="Inter"/>
                <a:ea typeface="Inter"/>
                <a:cs typeface="Inter"/>
                <a:sym typeface="Inter"/>
              </a:rPr>
              <a:t>, Adrian Vinueza, CC BY-NC-SA 4.0.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2026-09-27T18:12:35Z</dcterms:created>
  <dc:creator>PptxGenJS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2026-09-27T18:17:07Z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10638fb9-a8bf-441c-b780-0342c5ec5434</vt:lpwstr>
  </property>
  <property fmtid="{D5CDD505-2E9C-101B-9397-08002B2CF9AE}" pid="7" name="MSIP_Label_defa4170-0d19-0005-0004-bc88714345d2_ActionId">
    <vt:lpwstr>76da7eb9-48f2-4a39-99ad-9b7060864c95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